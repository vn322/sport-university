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sldIdLst>
    <p:sldId id="257" r:id="rId2"/>
    <p:sldId id="258" r:id="rId3"/>
    <p:sldId id="259" r:id="rId4"/>
    <p:sldId id="260" r:id="rId5"/>
    <p:sldId id="261" r:id="rId6"/>
    <p:sldId id="262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64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DC4C31-DF0E-4B0D-86EA-2D2824AEFE3E}" type="datetimeFigureOut">
              <a:rPr lang="ru-RU" smtClean="0"/>
              <a:t>19.06.2026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A2FEED-062E-4EEA-BCF8-8D05210717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8929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84887-424B-42FE-8193-5E19E43C015F}" type="datetime1">
              <a:rPr lang="ru-RU" smtClean="0"/>
              <a:t>19.06.2026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53F8-44B8-469C-BFF9-C5A1AD7CC9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500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14F81-77AC-482F-BF6E-6815B136449B}" type="datetime1">
              <a:rPr lang="ru-RU" smtClean="0"/>
              <a:t>19.06.2026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53F8-44B8-469C-BFF9-C5A1AD7CC9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2061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1D0C9-7B88-4B0D-B871-1D1478E0EF14}" type="datetime1">
              <a:rPr lang="ru-RU" smtClean="0"/>
              <a:t>19.06.2026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53F8-44B8-469C-BFF9-C5A1AD7CC9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5428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28C5B-6462-4F2B-8DD8-4F490110F1E0}" type="datetime1">
              <a:rPr lang="ru-RU" smtClean="0"/>
              <a:t>19.06.2026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53F8-44B8-469C-BFF9-C5A1AD7CC9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6471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6856-52D4-4734-BCB1-457EB52403C0}" type="datetime1">
              <a:rPr lang="ru-RU" smtClean="0"/>
              <a:t>19.06.2026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53F8-44B8-469C-BFF9-C5A1AD7CC9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7598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FDD31-90F0-484E-87A6-3EE4BA1380FC}" type="datetime1">
              <a:rPr lang="ru-RU" smtClean="0"/>
              <a:t>19.06.2026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53F8-44B8-469C-BFF9-C5A1AD7CC9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3035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A502-4F47-459F-B8AD-B3EFF411ED45}" type="datetime1">
              <a:rPr lang="ru-RU" smtClean="0"/>
              <a:t>19.06.2026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53F8-44B8-469C-BFF9-C5A1AD7CC9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8336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6AF70-7FA0-4A2F-910E-3459682C1C86}" type="datetime1">
              <a:rPr lang="ru-RU" smtClean="0"/>
              <a:t>19.06.2026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53F8-44B8-469C-BFF9-C5A1AD7CC9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6043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CA21E-9FC5-42FE-8E9B-3069C8C51635}" type="datetime1">
              <a:rPr lang="ru-RU" smtClean="0"/>
              <a:t>19.06.2026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53F8-44B8-469C-BFF9-C5A1AD7CC9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097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9CE63-68D3-4A4C-8232-8BFA108BAB73}" type="datetime1">
              <a:rPr lang="ru-RU" smtClean="0"/>
              <a:t>19.06.2026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53F8-44B8-469C-BFF9-C5A1AD7CC9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4775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6820-2740-4842-82C7-65216D0F231D}" type="datetime1">
              <a:rPr lang="ru-RU" smtClean="0"/>
              <a:t>19.06.2026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53F8-44B8-469C-BFF9-C5A1AD7CC9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4798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2513F-3407-43C9-8A9C-F472305E1256}" type="datetime1">
              <a:rPr lang="ru-RU" smtClean="0"/>
              <a:t>19.06.2026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B153F8-44B8-469C-BFF9-C5A1AD7CC9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4373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04734" y="172609"/>
            <a:ext cx="10972800" cy="1482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b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Федеральное государственное автономное образовательное учреждение высшего образования</a:t>
            </a:r>
            <a:endParaRPr lang="ru-RU" sz="140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b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«Российский университет дружбы народов</a:t>
            </a:r>
            <a:r>
              <a:rPr lang="ru-RU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b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имени Патриса Лумумбы»</a:t>
            </a:r>
            <a:endParaRPr lang="ru-RU" sz="140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Факультет </a:t>
            </a:r>
            <a:r>
              <a:rPr lang="ru-RU" u="sng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физико-математических и естественных наук</a:t>
            </a:r>
            <a:r>
              <a:rPr lang="ru-RU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ru-RU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Кафедра: </a:t>
            </a:r>
            <a:r>
              <a:rPr lang="ru-RU" u="sng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Математический институт им. С. М. Никольского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24655" y="2166026"/>
            <a:ext cx="11122701" cy="20320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Выпускная квалификационная работа</a:t>
            </a:r>
            <a:b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бакалавра</a:t>
            </a:r>
            <a:endParaRPr lang="ru-RU" sz="14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kern="100" dirty="0">
                <a:latin typeface="Times New Roman" panose="02020603050405020304" pitchFamily="18" charset="0"/>
                <a:ea typeface="Droid Sans Fallback"/>
                <a:cs typeface="FreeSans"/>
              </a:rPr>
              <a:t>Направление 01.03.02 «</a:t>
            </a:r>
            <a:r>
              <a:rPr lang="ru-RU" u="sng" kern="100" dirty="0">
                <a:latin typeface="Times New Roman" panose="02020603050405020304" pitchFamily="18" charset="0"/>
                <a:ea typeface="Droid Sans Fallback"/>
                <a:cs typeface="FreeSans"/>
              </a:rPr>
              <a:t>Прикладная математика и информатика</a:t>
            </a:r>
            <a:r>
              <a:rPr lang="ru-RU" kern="100" dirty="0">
                <a:latin typeface="Times New Roman" panose="02020603050405020304" pitchFamily="18" charset="0"/>
                <a:ea typeface="Droid Sans Fallback"/>
                <a:cs typeface="FreeSans"/>
              </a:rPr>
              <a:t>»</a:t>
            </a:r>
            <a:endParaRPr lang="ru-RU" sz="14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6695" algn="ctr">
              <a:lnSpc>
                <a:spcPct val="107000"/>
              </a:lnSpc>
              <a:spcAft>
                <a:spcPts val="1200"/>
              </a:spcAft>
            </a:pPr>
            <a:r>
              <a:rPr lang="ru-RU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«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Моделирование технико-тактических действий в единоборствах».</a:t>
            </a:r>
            <a:endParaRPr lang="ru-RU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281534" y="471462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Руководитель выпускной</a:t>
            </a:r>
            <a:b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 квалификационной работы</a:t>
            </a:r>
            <a:b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 Максимова И.С,</a:t>
            </a:r>
            <a:b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к.ф.-м.н., ассистент Математического</a:t>
            </a:r>
            <a:b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 института имени С. М. Никольского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8048289" y="4265388"/>
            <a:ext cx="33292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Выполнил студент Ермаков А.В</a:t>
            </a:r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8634334" y="6405777"/>
            <a:ext cx="2743200" cy="365125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2039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69626" y="817057"/>
            <a:ext cx="10598046" cy="4047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385" algn="just">
              <a:lnSpc>
                <a:spcPct val="107000"/>
              </a:lnSpc>
              <a:spcAft>
                <a:spcPts val="800"/>
              </a:spcAft>
            </a:pP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Актуальность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Современная спортивная наука рассматривает достижение высокого результата в единоборствах как сложную многокомпонентную систему, где технико-тактическое мастерство неразрывно связано с физической и функциональной подготовленностью. В этой системе биомеханические характеристики движений выступают в качестве ключевого детерминирующего фактора, опосредующего трансформацию потенциала спортсмена в конкретное соревновательное действие и его эффективность. </a:t>
            </a: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Исследование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биомеханических характеристик является самым распространённым и основным объективным способом анализа и оценки любых движений, выполняемых в физической культуре и спорте, а также технико-тактических действий в единоборствах.</a:t>
            </a:r>
            <a:endParaRPr lang="ru-RU" sz="14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540385" algn="just">
              <a:lnSpc>
                <a:spcPct val="107000"/>
              </a:lnSpc>
              <a:spcAft>
                <a:spcPts val="800"/>
              </a:spcAft>
            </a:pP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Противоречие,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между необходимостью совершенствования спортивной подготовки и недостатком средств и методов обеспечивающих достаточную объективность оснований для принятия решений не позволяющее однозначно получать высокие спортивные результаты </a:t>
            </a: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различных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видах единоборств, использующих в соревновательной деятельности подхват изнутри и его аналоги и обусловило актуальность нашей работы</a:t>
            </a: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.. </a:t>
            </a:r>
            <a:endParaRPr lang="ru-RU" sz="14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53F8-44B8-469C-BFF9-C5A1AD7CC9C0}" type="slidenum">
              <a:rPr lang="ru-RU" sz="1600" b="1" smtClean="0"/>
              <a:t>2</a:t>
            </a:fld>
            <a:endParaRPr lang="ru-RU" sz="1600" b="1" dirty="0"/>
          </a:p>
        </p:txBody>
      </p:sp>
    </p:spTree>
    <p:extLst>
      <p:ext uri="{BB962C8B-B14F-4D97-AF65-F5344CB8AC3E}">
        <p14:creationId xmlns:p14="http://schemas.microsoft.com/office/powerpoint/2010/main" val="548689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659568" y="1220689"/>
            <a:ext cx="10852878" cy="34663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385" algn="just">
              <a:lnSpc>
                <a:spcPct val="107000"/>
              </a:lnSpc>
              <a:spcAft>
                <a:spcPts val="800"/>
              </a:spcAft>
            </a:pP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Целью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работы является создание модели движений в тазобедренных суставах при выполнения броска соответствующего Учи Мата в дзюдо и броску подхватом изнутри для других единоборств в целях совершенствования спортивной подготовки.</a:t>
            </a:r>
            <a:endParaRPr lang="ru-RU" sz="14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540385" algn="ctr">
              <a:lnSpc>
                <a:spcPct val="107000"/>
              </a:lnSpc>
              <a:spcAft>
                <a:spcPts val="800"/>
              </a:spcAft>
            </a:pPr>
            <a:endParaRPr lang="ru-RU" b="1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540385" algn="ctr">
              <a:lnSpc>
                <a:spcPct val="107000"/>
              </a:lnSpc>
              <a:spcAft>
                <a:spcPts val="800"/>
              </a:spcAft>
            </a:pPr>
            <a:endParaRPr lang="ru-RU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540385" algn="ctr">
              <a:lnSpc>
                <a:spcPct val="107000"/>
              </a:lnSpc>
              <a:spcAft>
                <a:spcPts val="800"/>
              </a:spcAft>
            </a:pPr>
            <a:r>
              <a:rPr lang="ru-RU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Задачи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14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Определить научно-методические основы моделирования спортивных движений</a:t>
            </a:r>
            <a:endParaRPr lang="ru-RU" sz="14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Создать программный продукт, позволяющий получить </a:t>
            </a: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объективные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данные для разработки модели броска Учи Мата в дзюдо и броска подхватом изнутри для других единоборств. </a:t>
            </a:r>
            <a:endParaRPr lang="ru-RU" sz="14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Разработать модель изучаемого броска и создать рекомендации для внедрения её в спортивную практику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53F8-44B8-469C-BFF9-C5A1AD7CC9C0}" type="slidenum">
              <a:rPr lang="ru-RU" sz="1600" b="1" smtClean="0"/>
              <a:t>3</a:t>
            </a:fld>
            <a:endParaRPr lang="ru-RU" sz="1600" b="1" dirty="0"/>
          </a:p>
        </p:txBody>
      </p:sp>
    </p:spTree>
    <p:extLst>
      <p:ext uri="{BB962C8B-B14F-4D97-AF65-F5344CB8AC3E}">
        <p14:creationId xmlns:p14="http://schemas.microsoft.com/office/powerpoint/2010/main" val="795182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https://ai.google.dev/static/mediapipe/images/solutions/pose_landmarks_index.png?hl=ru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313" y="541493"/>
            <a:ext cx="3510280" cy="4156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Прямоугольник 2"/>
          <p:cNvSpPr/>
          <p:nvPr/>
        </p:nvSpPr>
        <p:spPr>
          <a:xfrm>
            <a:off x="2930903" y="5387927"/>
            <a:ext cx="4951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Рис.1 Точки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</a:rPr>
              <a:t>детекции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 для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</a:rPr>
              <a:t>Pose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</a:rPr>
              <a:t>landmarker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</a:rPr>
              <a:t>model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53F8-44B8-469C-BFF9-C5A1AD7CC9C0}" type="slidenum">
              <a:rPr lang="ru-RU" sz="1600" b="1" smtClean="0"/>
              <a:t>4</a:t>
            </a:fld>
            <a:endParaRPr lang="ru-RU" sz="1600" b="1" dirty="0"/>
          </a:p>
        </p:txBody>
      </p:sp>
    </p:spTree>
    <p:extLst>
      <p:ext uri="{BB962C8B-B14F-4D97-AF65-F5344CB8AC3E}">
        <p14:creationId xmlns:p14="http://schemas.microsoft.com/office/powerpoint/2010/main" val="2433392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C:\Users\user\AppData\Local\Microsoft\Windows\INetCache\Content.Word\68747470733a2f2f7261772e67697468756275736572636f6e74656e742e636f6d2f766e3332322f53706f72742d556e69766572736974792f6d61696e2f53637265656e73686f745f342e6a7067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213" y="554636"/>
            <a:ext cx="3661108" cy="3908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/>
          <p:cNvPicPr/>
          <p:nvPr/>
        </p:nvPicPr>
        <p:blipFill>
          <a:blip r:embed="rId3"/>
          <a:stretch>
            <a:fillRect/>
          </a:stretch>
        </p:blipFill>
        <p:spPr>
          <a:xfrm>
            <a:off x="5606321" y="554636"/>
            <a:ext cx="3117954" cy="3908342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528995" y="4915271"/>
            <a:ext cx="7674965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385" algn="ctr"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Рис.2 – Измеряемые величины углов (красным цветом изображён угол атакующей ноги, жёлтым – угол </a:t>
            </a: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наклона туловища)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53F8-44B8-469C-BFF9-C5A1AD7CC9C0}" type="slidenum">
              <a:rPr lang="ru-RU" sz="1600" b="1" smtClean="0"/>
              <a:t>5</a:t>
            </a:fld>
            <a:endParaRPr lang="ru-RU" sz="1600" b="1" dirty="0"/>
          </a:p>
        </p:txBody>
      </p:sp>
    </p:spTree>
    <p:extLst>
      <p:ext uri="{BB962C8B-B14F-4D97-AF65-F5344CB8AC3E}">
        <p14:creationId xmlns:p14="http://schemas.microsoft.com/office/powerpoint/2010/main" val="1750843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522" y="449705"/>
            <a:ext cx="5955900" cy="3051376"/>
          </a:xfrm>
          <a:prstGeom prst="rect">
            <a:avLst/>
          </a:prstGeom>
          <a:noFill/>
        </p:spPr>
      </p:pic>
      <p:sp>
        <p:nvSpPr>
          <p:cNvPr id="3" name="Прямоугольник 2"/>
          <p:cNvSpPr/>
          <p:nvPr/>
        </p:nvSpPr>
        <p:spPr>
          <a:xfrm>
            <a:off x="362522" y="4380217"/>
            <a:ext cx="5183838" cy="981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ctr"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Рис.3 – Диаграмма амплитуды движения нижних конечностей при выполнении четырёх бросков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 descr="C:\Users\user\AppData\Local\Microsoft\Windows\INetCache\Content.MSO\8643BC45.tmp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5671" y="688603"/>
            <a:ext cx="5371475" cy="258530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Прямоугольник 4"/>
          <p:cNvSpPr/>
          <p:nvPr/>
        </p:nvSpPr>
        <p:spPr>
          <a:xfrm>
            <a:off x="7000407" y="4380217"/>
            <a:ext cx="4966739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385" algn="ctr"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Рис.4 – Диаграмма размаха для полной серии четырёх бросков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53F8-44B8-469C-BFF9-C5A1AD7CC9C0}" type="slidenum">
              <a:rPr lang="ru-RU" sz="1600" b="1" smtClean="0"/>
              <a:t>6</a:t>
            </a:fld>
            <a:endParaRPr lang="ru-RU" sz="1600" b="1" dirty="0"/>
          </a:p>
        </p:txBody>
      </p:sp>
    </p:spTree>
    <p:extLst>
      <p:ext uri="{BB962C8B-B14F-4D97-AF65-F5344CB8AC3E}">
        <p14:creationId xmlns:p14="http://schemas.microsoft.com/office/powerpoint/2010/main" val="3962712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114269" y="419941"/>
            <a:ext cx="8779239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ctr"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Таблица </a:t>
            </a: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Корреляция и статистическая оценка достоверности различий амплитуды движений ног и туловища при выполнении бросков.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662748"/>
              </p:ext>
            </p:extLst>
          </p:nvPr>
        </p:nvGraphicFramePr>
        <p:xfrm>
          <a:off x="509668" y="1693888"/>
          <a:ext cx="10837887" cy="34533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358829">
                  <a:extLst>
                    <a:ext uri="{9D8B030D-6E8A-4147-A177-3AD203B41FA5}">
                      <a16:colId xmlns:a16="http://schemas.microsoft.com/office/drawing/2014/main" val="4193575508"/>
                    </a:ext>
                  </a:extLst>
                </a:gridCol>
                <a:gridCol w="1886970">
                  <a:extLst>
                    <a:ext uri="{9D8B030D-6E8A-4147-A177-3AD203B41FA5}">
                      <a16:colId xmlns:a16="http://schemas.microsoft.com/office/drawing/2014/main" val="763935791"/>
                    </a:ext>
                  </a:extLst>
                </a:gridCol>
                <a:gridCol w="1967043">
                  <a:extLst>
                    <a:ext uri="{9D8B030D-6E8A-4147-A177-3AD203B41FA5}">
                      <a16:colId xmlns:a16="http://schemas.microsoft.com/office/drawing/2014/main" val="637724951"/>
                    </a:ext>
                  </a:extLst>
                </a:gridCol>
                <a:gridCol w="2625045">
                  <a:extLst>
                    <a:ext uri="{9D8B030D-6E8A-4147-A177-3AD203B41FA5}">
                      <a16:colId xmlns:a16="http://schemas.microsoft.com/office/drawing/2014/main" val="2955884321"/>
                    </a:ext>
                  </a:extLst>
                </a:gridCol>
              </a:tblGrid>
              <a:tr h="154825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Измерение выполнения серии 4-х приёмов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Угол между левым бедром и туловищем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Угол между правым бедром и туловищем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Сравнение амплитуд движений ногой и туловищем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17792012"/>
                  </a:ext>
                </a:extLst>
              </a:tr>
              <a:tr h="76549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Коэффициент корреляции (Пирсон)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-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-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0.</a:t>
                      </a:r>
                      <a:r>
                        <a:rPr lang="en-US" sz="2000" dirty="0">
                          <a:effectLst/>
                        </a:rPr>
                        <a:t>32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80374980"/>
                  </a:ext>
                </a:extLst>
              </a:tr>
              <a:tr h="37411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H-критерий Краскела — Уоллиса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3.482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0.856, 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71.483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25862635"/>
                  </a:ext>
                </a:extLst>
              </a:tr>
              <a:tr h="76549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Достоверность различий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нет</a:t>
                      </a:r>
                      <a:endParaRPr lang="ru-RU" sz="18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(p=0.175)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нет </a:t>
                      </a:r>
                      <a:endParaRPr lang="ru-RU" sz="1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(p=0.652)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р≤0,001</a:t>
                      </a:r>
                      <a:endParaRPr lang="ru-RU" sz="1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(p=0.0001)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67735948"/>
                  </a:ext>
                </a:extLst>
              </a:tr>
            </a:tbl>
          </a:graphicData>
        </a:graphic>
      </p:graphicFrame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53F8-44B8-469C-BFF9-C5A1AD7CC9C0}" type="slidenum">
              <a:rPr lang="ru-RU" sz="1600" b="1" smtClean="0"/>
              <a:t>7</a:t>
            </a:fld>
            <a:endParaRPr lang="ru-RU" sz="1600" b="1" dirty="0"/>
          </a:p>
        </p:txBody>
      </p:sp>
    </p:spTree>
    <p:extLst>
      <p:ext uri="{BB962C8B-B14F-4D97-AF65-F5344CB8AC3E}">
        <p14:creationId xmlns:p14="http://schemas.microsoft.com/office/powerpoint/2010/main" val="2148672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C:\Users\user\AppData\Local\Microsoft\Windows\INetCache\Content.MSO\76A7F42C.tmp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594" y="629589"/>
            <a:ext cx="5781519" cy="401827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Прямоугольник 2"/>
          <p:cNvSpPr/>
          <p:nvPr/>
        </p:nvSpPr>
        <p:spPr>
          <a:xfrm>
            <a:off x="1099120" y="5275034"/>
            <a:ext cx="8359515" cy="388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385" algn="ctr">
              <a:lnSpc>
                <a:spcPct val="107000"/>
              </a:lnSpc>
              <a:spcAft>
                <a:spcPts val="800"/>
              </a:spcAft>
            </a:pP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Рис.5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Построение полиномиальной регрессии (степень полинома = </a:t>
            </a: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 и 6)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5458" y="629589"/>
            <a:ext cx="5561820" cy="3852137"/>
          </a:xfrm>
          <a:prstGeom prst="rect">
            <a:avLst/>
          </a:prstGeom>
          <a:noFill/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53F8-44B8-469C-BFF9-C5A1AD7CC9C0}" type="slidenum">
              <a:rPr lang="ru-RU" sz="1600" b="1" smtClean="0"/>
              <a:t>8</a:t>
            </a:fld>
            <a:endParaRPr lang="ru-RU" sz="1600" b="1" dirty="0"/>
          </a:p>
        </p:txBody>
      </p:sp>
    </p:spTree>
    <p:extLst>
      <p:ext uri="{BB962C8B-B14F-4D97-AF65-F5344CB8AC3E}">
        <p14:creationId xmlns:p14="http://schemas.microsoft.com/office/powerpoint/2010/main" val="3315481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666228"/>
              </p:ext>
            </p:extLst>
          </p:nvPr>
        </p:nvGraphicFramePr>
        <p:xfrm>
          <a:off x="1678900" y="989351"/>
          <a:ext cx="9099028" cy="57713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18222">
                  <a:extLst>
                    <a:ext uri="{9D8B030D-6E8A-4147-A177-3AD203B41FA5}">
                      <a16:colId xmlns:a16="http://schemas.microsoft.com/office/drawing/2014/main" val="2111075749"/>
                    </a:ext>
                  </a:extLst>
                </a:gridCol>
                <a:gridCol w="2760379">
                  <a:extLst>
                    <a:ext uri="{9D8B030D-6E8A-4147-A177-3AD203B41FA5}">
                      <a16:colId xmlns:a16="http://schemas.microsoft.com/office/drawing/2014/main" val="3807655419"/>
                    </a:ext>
                  </a:extLst>
                </a:gridCol>
                <a:gridCol w="3720427">
                  <a:extLst>
                    <a:ext uri="{9D8B030D-6E8A-4147-A177-3AD203B41FA5}">
                      <a16:colId xmlns:a16="http://schemas.microsoft.com/office/drawing/2014/main" val="2844660350"/>
                    </a:ext>
                  </a:extLst>
                </a:gridCol>
              </a:tblGrid>
              <a:tr h="17970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Степень полинома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R</a:t>
                      </a:r>
                      <a:r>
                        <a:rPr lang="ru-RU" sz="1800" baseline="30000">
                          <a:effectLst/>
                        </a:rPr>
                        <a:t>2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RMSE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3752544"/>
                  </a:ext>
                </a:extLst>
              </a:tr>
              <a:tr h="2996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2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0.7258736880099964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12.220734585686955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8059682"/>
                  </a:ext>
                </a:extLst>
              </a:tr>
              <a:tr h="2996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3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0.7480862819015195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11.715150153880828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56633374"/>
                  </a:ext>
                </a:extLst>
              </a:tr>
              <a:tr h="2996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4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0.7508856172543061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11.649877310162774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32554210"/>
                  </a:ext>
                </a:extLst>
              </a:tr>
              <a:tr h="2996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5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0.7516700888081999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11.631519872553719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39155022"/>
                  </a:ext>
                </a:extLst>
              </a:tr>
              <a:tr h="2996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6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</a:rPr>
                        <a:t>0.8031771281640537</a:t>
                      </a:r>
                      <a:endParaRPr lang="ru-RU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</a:rPr>
                        <a:t>10.355229597148663</a:t>
                      </a:r>
                      <a:endParaRPr lang="ru-RU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0809579"/>
                  </a:ext>
                </a:extLst>
              </a:tr>
              <a:tr h="2996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7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0.7856674604517465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10.806025929282708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08047498"/>
                  </a:ext>
                </a:extLst>
              </a:tr>
              <a:tr h="2996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8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0.776299061942969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11.03966393645138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26146784"/>
                  </a:ext>
                </a:extLst>
              </a:tr>
              <a:tr h="2996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9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0.7834884232179665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10.860817393842735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51101194"/>
                  </a:ext>
                </a:extLst>
              </a:tr>
              <a:tr h="2996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10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0.7851556725670876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10.818919668378745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6562273"/>
                  </a:ext>
                </a:extLst>
              </a:tr>
              <a:tr h="2996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11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0.7644379835459174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11.328556684224987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73063560"/>
                  </a:ext>
                </a:extLst>
              </a:tr>
              <a:tr h="2996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12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0.7286695680399649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12.158253761006614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615421"/>
                  </a:ext>
                </a:extLst>
              </a:tr>
              <a:tr h="2996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13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0.6957149202060791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12.875445928182263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15447402"/>
                  </a:ext>
                </a:extLst>
              </a:tr>
              <a:tr h="2996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14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0.6705074228538517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13.398147912880555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17555042"/>
                  </a:ext>
                </a:extLst>
              </a:tr>
              <a:tr h="2996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15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0.5812615560205732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15.104048373059733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2804081"/>
                  </a:ext>
                </a:extLst>
              </a:tr>
              <a:tr h="2996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16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0.552669744945929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15.611192776177138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71623479"/>
                  </a:ext>
                </a:extLst>
              </a:tr>
              <a:tr h="2996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17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0.5241271523794702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16.101539922348273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92883120"/>
                  </a:ext>
                </a:extLst>
              </a:tr>
              <a:tr h="38438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18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0.49663032446212685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16.560196084072665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8284403"/>
                  </a:ext>
                </a:extLst>
              </a:tr>
              <a:tr h="2996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19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0.4706350308954549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16.98241891158282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9749778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2508353" y="289302"/>
            <a:ext cx="7415135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385" algn="ctr"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Таблица </a:t>
            </a: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Построение полиномиальной регрессии от 2 до 19 степени полинома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53F8-44B8-469C-BFF9-C5A1AD7CC9C0}" type="slidenum">
              <a:rPr lang="ru-RU" sz="1600" b="1" smtClean="0"/>
              <a:t>9</a:t>
            </a:fld>
            <a:endParaRPr lang="ru-RU" sz="1600" b="1" dirty="0"/>
          </a:p>
        </p:txBody>
      </p:sp>
    </p:spTree>
    <p:extLst>
      <p:ext uri="{BB962C8B-B14F-4D97-AF65-F5344CB8AC3E}">
        <p14:creationId xmlns:p14="http://schemas.microsoft.com/office/powerpoint/2010/main" val="2168546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33627"/>
              </p:ext>
            </p:extLst>
          </p:nvPr>
        </p:nvGraphicFramePr>
        <p:xfrm>
          <a:off x="1109272" y="1753847"/>
          <a:ext cx="9563725" cy="40002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07063">
                  <a:extLst>
                    <a:ext uri="{9D8B030D-6E8A-4147-A177-3AD203B41FA5}">
                      <a16:colId xmlns:a16="http://schemas.microsoft.com/office/drawing/2014/main" val="4123295218"/>
                    </a:ext>
                  </a:extLst>
                </a:gridCol>
                <a:gridCol w="2254348">
                  <a:extLst>
                    <a:ext uri="{9D8B030D-6E8A-4147-A177-3AD203B41FA5}">
                      <a16:colId xmlns:a16="http://schemas.microsoft.com/office/drawing/2014/main" val="682990792"/>
                    </a:ext>
                  </a:extLst>
                </a:gridCol>
                <a:gridCol w="1324202">
                  <a:extLst>
                    <a:ext uri="{9D8B030D-6E8A-4147-A177-3AD203B41FA5}">
                      <a16:colId xmlns:a16="http://schemas.microsoft.com/office/drawing/2014/main" val="3987866192"/>
                    </a:ext>
                  </a:extLst>
                </a:gridCol>
                <a:gridCol w="1004341">
                  <a:extLst>
                    <a:ext uri="{9D8B030D-6E8A-4147-A177-3AD203B41FA5}">
                      <a16:colId xmlns:a16="http://schemas.microsoft.com/office/drawing/2014/main" val="1039483253"/>
                    </a:ext>
                  </a:extLst>
                </a:gridCol>
                <a:gridCol w="1873771">
                  <a:extLst>
                    <a:ext uri="{9D8B030D-6E8A-4147-A177-3AD203B41FA5}">
                      <a16:colId xmlns:a16="http://schemas.microsoft.com/office/drawing/2014/main" val="3232170430"/>
                    </a:ext>
                  </a:extLst>
                </a:gridCol>
              </a:tblGrid>
              <a:tr h="29790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Model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Adjusted R-Squared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R-Squared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RMSE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Time Taken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7083958"/>
                  </a:ext>
                </a:extLst>
              </a:tr>
              <a:tr h="29790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XGBRegressor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0.75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0.75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13.77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0.18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46418397"/>
                  </a:ext>
                </a:extLst>
              </a:tr>
              <a:tr h="29790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GradientBoostingRegressor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0.75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0.75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13.78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0.10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2881119"/>
                  </a:ext>
                </a:extLst>
              </a:tr>
              <a:tr h="42542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HistGradientBoostingRegressor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0.75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0.75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13.86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0.29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873556"/>
                  </a:ext>
                </a:extLst>
              </a:tr>
              <a:tr h="29790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LGBMRegressor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0.74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0.75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13.93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0.10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52847439"/>
                  </a:ext>
                </a:extLst>
              </a:tr>
              <a:tr h="29790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BaggingRegressor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0.74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0.74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13.99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0.03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0845270"/>
                  </a:ext>
                </a:extLst>
              </a:tr>
              <a:tr h="29790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RandomForestRegressor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0.74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0.74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14.00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0.37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05830034"/>
                  </a:ext>
                </a:extLst>
              </a:tr>
              <a:tr h="29790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SVR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0.74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0.74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14.12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0.14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40418411"/>
                  </a:ext>
                </a:extLst>
              </a:tr>
              <a:tr h="29790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GaussianProcessRegressor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0.73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0.74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14.22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0.11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057797"/>
                  </a:ext>
                </a:extLst>
              </a:tr>
              <a:tr h="29790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ExtraTreeRegressor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0.73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0.73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14.25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0.02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3047826"/>
                  </a:ext>
                </a:extLst>
              </a:tr>
              <a:tr h="29790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DecisionTreeRegressor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0.73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0.73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14.28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0.01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23764775"/>
                  </a:ext>
                </a:extLst>
              </a:tr>
              <a:tr h="29790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NuSVR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0.73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0.73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14.29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0.07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55667470"/>
                  </a:ext>
                </a:extLst>
              </a:tr>
              <a:tr h="29790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ExtraTreesRegressor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0.73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0.73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14.33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0.11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93297067"/>
                  </a:ext>
                </a:extLst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1578963" y="568123"/>
            <a:ext cx="8599358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385" algn="ctr"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Таблица </a:t>
            </a: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Сравнение производительности различных моделей машинного обучения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53F8-44B8-469C-BFF9-C5A1AD7CC9C0}" type="slidenum">
              <a:rPr lang="ru-RU" sz="1600" b="1" smtClean="0"/>
              <a:t>10</a:t>
            </a:fld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698117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725" y="779489"/>
            <a:ext cx="4751882" cy="3297836"/>
          </a:xfrm>
          <a:prstGeom prst="rect">
            <a:avLst/>
          </a:prstGeom>
          <a:noFill/>
        </p:spPr>
      </p:pic>
      <p:pic>
        <p:nvPicPr>
          <p:cNvPr id="3" name="Рисунок 2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056" y="779489"/>
            <a:ext cx="4886793" cy="3297836"/>
          </a:xfrm>
          <a:prstGeom prst="rect">
            <a:avLst/>
          </a:prstGeom>
          <a:noFill/>
        </p:spPr>
      </p:pic>
      <p:sp>
        <p:nvSpPr>
          <p:cNvPr id="4" name="Прямоугольник 3"/>
          <p:cNvSpPr/>
          <p:nvPr/>
        </p:nvSpPr>
        <p:spPr>
          <a:xfrm>
            <a:off x="1084287" y="4675429"/>
            <a:ext cx="9243935" cy="388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385" algn="just">
              <a:lnSpc>
                <a:spcPct val="107000"/>
              </a:lnSpc>
              <a:spcAft>
                <a:spcPts val="800"/>
              </a:spcAft>
            </a:pP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Рис.6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Активная часть исследуемого броска до (слева) и после (справа) сглаживания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53F8-44B8-469C-BFF9-C5A1AD7CC9C0}" type="slidenum">
              <a:rPr lang="ru-RU" sz="1600" b="1" smtClean="0"/>
              <a:t>11</a:t>
            </a:fld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533352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4241" y="315700"/>
            <a:ext cx="5255614" cy="3541899"/>
          </a:xfrm>
          <a:prstGeom prst="rect">
            <a:avLst/>
          </a:prstGeom>
          <a:noFill/>
        </p:spPr>
      </p:pic>
      <p:sp>
        <p:nvSpPr>
          <p:cNvPr id="3" name="Прямоугольник 2"/>
          <p:cNvSpPr/>
          <p:nvPr/>
        </p:nvSpPr>
        <p:spPr>
          <a:xfrm>
            <a:off x="314793" y="3857599"/>
            <a:ext cx="11212643" cy="2782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385" algn="ctr">
              <a:lnSpc>
                <a:spcPct val="107000"/>
              </a:lnSpc>
              <a:spcAft>
                <a:spcPts val="800"/>
              </a:spcAft>
            </a:pP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Рис.6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–Полиномиальная регрессия второй степени после </a:t>
            </a: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сглаживания (</a:t>
            </a:r>
            <a:r>
              <a:rPr lang="ru-RU" b="1" dirty="0"/>
              <a:t>R</a:t>
            </a:r>
            <a:r>
              <a:rPr lang="ru-RU" b="1" baseline="30000" dirty="0"/>
              <a:t>2</a:t>
            </a:r>
            <a:r>
              <a:rPr lang="ru-RU" dirty="0"/>
              <a:t> = 0,91, </a:t>
            </a:r>
            <a:r>
              <a:rPr lang="ru-RU" b="1" dirty="0"/>
              <a:t>RMSE </a:t>
            </a:r>
            <a:r>
              <a:rPr lang="ru-RU" dirty="0"/>
              <a:t>= </a:t>
            </a:r>
            <a:r>
              <a:rPr lang="ru-RU" dirty="0" smtClean="0"/>
              <a:t>5,68)</a:t>
            </a:r>
            <a:endParaRPr lang="ru-RU" sz="14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540385" algn="just"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4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540385" algn="just"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результате расчёта выявленная зависимость описывается формулой:</a:t>
            </a:r>
            <a:endParaRPr lang="ru-RU" sz="14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540385" algn="ctr"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2.51651746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- 0.01397172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ru-RU" baseline="30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  </a:t>
            </a:r>
            <a:endParaRPr lang="ru-RU" sz="14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540385" algn="just">
              <a:lnSpc>
                <a:spcPct val="107000"/>
              </a:lnSpc>
              <a:spcAft>
                <a:spcPts val="800"/>
              </a:spcAft>
            </a:pP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Где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14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540385" algn="just"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Величина угла отражающая мах атакующей ноги</a:t>
            </a:r>
            <a:endParaRPr lang="ru-RU" sz="14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540385" algn="just"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Величина угла отражающая наклон </a:t>
            </a: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туловища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53F8-44B8-469C-BFF9-C5A1AD7CC9C0}" type="slidenum">
              <a:rPr lang="ru-RU" sz="1600" b="1" smtClean="0"/>
              <a:t>12</a:t>
            </a:fld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01501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39843" y="254006"/>
            <a:ext cx="11767278" cy="60310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ru-RU" b="1" u="sng" kern="0" dirty="0">
                <a:solidFill>
                  <a:srgbClr val="2E74B5"/>
                </a:solidFill>
                <a:latin typeface="Times New Roman" panose="02020603050405020304" pitchFamily="18" charset="0"/>
                <a:ea typeface="DengXian Light"/>
              </a:rPr>
              <a:t>Выводы и заключение</a:t>
            </a:r>
            <a:endParaRPr lang="ru-RU" b="1" kern="0" dirty="0">
              <a:solidFill>
                <a:srgbClr val="2E74B5"/>
              </a:solidFill>
              <a:latin typeface="Times New Roman" panose="02020603050405020304" pitchFamily="18" charset="0"/>
              <a:ea typeface="DengXian Light"/>
            </a:endParaRPr>
          </a:p>
          <a:p>
            <a:pPr indent="588645" algn="just"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4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588645" algn="just"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результате проведённых исследований было установлено: </a:t>
            </a:r>
            <a:endParaRPr lang="ru-RU" sz="14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Отсутствует единообразие в оценке вклада движений туловища и атакующей ноги при выполнении броска подхватом изнутри в современном научном дискурсе и разнообразие мнений в основном обусловлено различиями в оценке физических характеристик. При этом построенные модели данного технико-тактического действия как правило не учитывают характер движений тех звеньев тела, которые и ложатся в основу классификации технико-тактических действий. </a:t>
            </a:r>
            <a:endParaRPr lang="ru-RU" sz="14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Наклон туловища и мах атакующей ноги вносят различный и несравнимый вклад в успешное выполнение броска подхватом изнутри Учи-мата в дзюдо и однозначно отнести его к броскам выполняемым в основном ногами и туловищем возможно только при определении приоритета в оценке быстроты или амплитуды, силы.</a:t>
            </a:r>
            <a:endParaRPr lang="ru-RU" sz="14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Соотношение амплитуд наклона и маха ногой при выполнении исследуемого броска может быть описано полиномиальной регрессионной модели второй степени</a:t>
            </a:r>
            <a:endParaRPr lang="ru-RU" sz="14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 подборе упражнений необходимо соблюдать направленность тренировки мышц туловища на достижение силы и гибкости, а мышц ног на достижение быстроты причём нога должна двигаться в два раза быстрее туловища.</a:t>
            </a:r>
            <a:endParaRPr lang="ru-RU" sz="14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540385" algn="just"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Дальнейшее улучшение может заключаться в добавлении оценки поворота плеч относительно таза, так называемый X-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factor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Это вращательное движение может иметь значительный вклад в эффективность броска, но на текущий момент времени оно исследуется в других видах спорта</a:t>
            </a: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4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53F8-44B8-469C-BFF9-C5A1AD7CC9C0}" type="slidenum">
              <a:rPr lang="ru-RU" sz="1600" b="1" smtClean="0"/>
              <a:t>13</a:t>
            </a:fld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970428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 rotWithShape="1">
          <a:blip r:embed="rId2"/>
          <a:srcRect l="31226" t="19605" r="31750" b="4409"/>
          <a:stretch/>
        </p:blipFill>
        <p:spPr>
          <a:xfrm>
            <a:off x="164907" y="1310821"/>
            <a:ext cx="3617595" cy="4176395"/>
          </a:xfrm>
          <a:prstGeom prst="rect">
            <a:avLst/>
          </a:prstGeom>
        </p:spPr>
      </p:pic>
      <p:pic>
        <p:nvPicPr>
          <p:cNvPr id="3" name="Picture 2" descr="https://sun9-23.userapi.com/s/v1/ig2/6MMuGZTnm_08PZbS2SDaMiLz0UbNJCXu0-w9_N2gC-iHO97IFUWfVvGHho_xXAEcnLedsQ_YQWLjfI5n8XvjgmTW.jpg?quality=95&amp;as=32x47,48x70,72x105,108x158,160x234,240x351,360x526,480x702,540x789,591x864&amp;from=bu&amp;u=u1AmVDQOQiFUQ8m8E1j94aAcR3M6jxhoAYZbXXDM_5w&amp;cs=591x0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2362" y="1175910"/>
            <a:ext cx="3597639" cy="4311306"/>
          </a:xfrm>
          <a:prstGeom prst="rect">
            <a:avLst/>
          </a:prstGeom>
          <a:noFill/>
          <a:extLst/>
        </p:spPr>
      </p:pic>
      <p:pic>
        <p:nvPicPr>
          <p:cNvPr id="4" name="Рисунок 3"/>
          <p:cNvPicPr/>
          <p:nvPr/>
        </p:nvPicPr>
        <p:blipFill>
          <a:blip r:embed="rId4"/>
          <a:stretch>
            <a:fillRect/>
          </a:stretch>
        </p:blipFill>
        <p:spPr>
          <a:xfrm>
            <a:off x="7899861" y="1041814"/>
            <a:ext cx="3642609" cy="4445402"/>
          </a:xfrm>
          <a:prstGeom prst="rect">
            <a:avLst/>
          </a:prstGeom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53F8-44B8-469C-BFF9-C5A1AD7CC9C0}" type="slidenum">
              <a:rPr lang="ru-RU" sz="1600" b="1" smtClean="0"/>
              <a:t>14</a:t>
            </a:fld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88162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94872" y="444295"/>
            <a:ext cx="11842230" cy="57460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Иностранная литература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Adam M. A profile of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Paweł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Nastula’s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individual technical-tactical preparation //Archives of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Budo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Science of Martial Arts and Extreme Sports. – 2013. –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9. –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69-75 https://smaes.archbudo.com/view/abstract/id/10752 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 J.,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Wulf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G., Kim S. Increased carry distance and X-factor stretch in golf through an external focus of attention //Journal of Motor Learning and Development. – 2013. –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1. – №. 1. –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2-11. https://gwulf.faculty.unlv.edu/wp-content/uploads/2014/05/An-Wulf-Kim-2013.pdf 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Andres Robert, Don Chaffing Validation of a biodynamic model of pushing and pulling J. Biomechanics (1991) Vol. 24, No. 11. pp. 1033-1045. https://deepblue.lib.umich.edu/bitstream/handle/2027.42/29656/0000745.pdf?sequence=1 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Gourlay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Uvesten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F. TEKNISK KARTLÄGGNING AV JUDO: EN ANALYS AV DAMJUNIORERS JUDO: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дис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– Linnaeus University, 2022 https://lnu.diva-portal.org/smash/get/diva2:1675938/FULLTEXT01.pdf 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Jlidi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N. et al. MediaPipe with GNN for Human Activity Recognition //Journal Of Universal Computer Science (JUCS). – 2024. –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30. – №. 6.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Judo Combat: Time-Motion Analysis And Biomechanical Approach https://www.researchgate.net/publication/351110989_Judo_Combat_Time-Motion_Analysis_And_Biomechanical_Approach?enrichId=rgreq-4f54c92760e5921b3beff9906ad3385a-XXX&amp;enrichSource=Y292ZXJQYWdlOzM1MTExMDk4OTtBUzoxMDE3MTk3NzU3NDcyNzcyQDE2MTk1MzAyNTI1MzA%3D&amp;el=1_x_3&amp;_esc=publicationCoverPdf 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53F8-44B8-469C-BFF9-C5A1AD7CC9C0}" type="slidenum">
              <a:rPr lang="ru-RU" sz="1600" b="1" smtClean="0"/>
              <a:t>15</a:t>
            </a:fld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895046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79882" y="264093"/>
            <a:ext cx="12012118" cy="56434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Kim E. H., Cho D. H., Kwon M. S. A Kinematic Analysis of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Uchi-mata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(inner thigh reaping throw) by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Kumi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-kata types in Judo //Korean Journal of Sport Biomechanics. – 2002. –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12. – №. 1. –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63-87. http://koreascience.or.kr/article/JAKO200220163389537.page 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Kim, E. H., Yoon, H., Kim, S. S., &amp; Chung, C. W. (2005). Biomechanical traits analysis when performing of judo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Uchimata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by posture and voluntary resistance levels of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uke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In ISBS-Conference Proceedings Archive. https://ojs.ub.uni-konstanz.de/cpa/article/view/1158 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Kruskal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W. H., Wallis W. A. Use of ranks in one-criterion variance analysis. // Journal of the American Statistical Association. — 1952, 47 № 260. — pp. 583–621.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Kudo K. Judo in Action - Throwing Technique. – Japan Publications Trading Company, 1967.- 128 p. ISBN 10: 0870400746 ISBN 13: 9780870400742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Lugaresi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C. et al.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Mediapipe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A framework for perceiving and processing reality //Third workshop on computer vision for AR/VR at IEEE computer vision and pattern recognition (CVPR). – 2019. –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2019.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Marek A.,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Sterkowicz-Przybycień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K. The efficiency of tactical and technical actions of the national teams of Japan and Russia at the World Championships in Judo (2013, 2014 and 2015) //Biomedical Human Kinetics. – 2018. –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10. – №. 1. –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45. DOI:10.1515/bhk-2018-0008 https://www.researchgate.net/publication/323421462_The_efficiency_of_tactical_and_technical_actions_of_the_national_teams_of_Japan_and_Russia_at_the_World_Championships_in_Judo_2013_2014_and_2015 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53F8-44B8-469C-BFF9-C5A1AD7CC9C0}" type="slidenum">
              <a:rPr lang="ru-RU" sz="1600" b="1" smtClean="0"/>
              <a:t>16</a:t>
            </a:fld>
            <a:endParaRPr lang="ru-RU" sz="1600" b="1" dirty="0"/>
          </a:p>
        </p:txBody>
      </p:sp>
    </p:spTree>
    <p:extLst>
      <p:ext uri="{BB962C8B-B14F-4D97-AF65-F5344CB8AC3E}">
        <p14:creationId xmlns:p14="http://schemas.microsoft.com/office/powerpoint/2010/main" val="1058582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71378"/>
            <a:ext cx="11947161" cy="23720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Minamitani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N. et al. Biomechanical properties of judo throwing technique,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uchimata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especially for newly developed flamingo technique //ISBS-Conference Proceedings Archive. – 1988. https://ojs.ub.uni-konstanz.de/cpa/article/view/1807 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Suarez G. R., Davila M. G.,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Puche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P. P.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Análisis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factores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biomecánicos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comportamentales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relacionados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con la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efectividad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del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ejecutado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por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judokas de alto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rendimiento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//Universidad de Granada. – 2002. http://viref.udea.edu.co/contenido/pdf/012_analisis_biomecanicos_uchi_mata.pdf 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Tsui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H. T., Tuan Y. R., Chen J. Y. POSE: Pose estimation Of virtual Sync Exhibit system //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arXiv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preprint arXiv:2410.15343. – 2024.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3274776"/>
            <a:ext cx="12201994" cy="266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Отечественная литература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Гмурман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В. Е. Теория вероятностей и математическая статистика: Учебное пособие для вузов. — 10-е издание, стереотипное. — Москва: Высшая школа, 2004. — 479 с. — ISBN 5-06-004214-6.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Ермаков А. В. Анализ движения в единоборствах с помощью библиотек «компьютерного зрения» OpenCV и фреймворка искусственного интеллекта MediaPipe // Боевые искусства и спортивные единоборства: наука, практика, воспитание: материалы VI Всероссийской научно-практической конференции с международным участием (Москва, 14 октября 2021 г.) / под общ. ред. Ю. Л. Орлова, Л. Г. Рыжковой. – М.: Изд-во Российского университета спорта «ГЦОЛИФК», 2021. – С. 106–111</a:t>
            </a: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53F8-44B8-469C-BFF9-C5A1AD7CC9C0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0497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4931" y="181698"/>
            <a:ext cx="11692328" cy="32611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Ермаков А.В. Программа анализа оценки техники движений с использованием компьютерного зрения «MOTIONANALYZER». Свидетельство о регистрации программы для ЭВМ RU 2026611195, 19.01.2026. Заявка № 2025698650 от 30.12.2025.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Ермаков А.В. Программа для самостоятельного обучения технике выполнения физкультурно-спортивных упражнений с использованием компьютерного зрения «VIRTUAL-COACH». Свидетельство о регистрации программы для ЭВМ RU 2026612791, 30.01.2026. Заявка № 2026611319 от 20.01.2026.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Ермаков А.В., Белов А.Г.,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Скаржинская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Е.Н., Новоселов М.А. Программа по визуальному определению амплитуды движений в основных суставах человека (военнослужащего, спортсмена) при выполнении двигательных действий (спортивных и прикладных упражнений) с использованием искусственного интеллекта. Свидетельство о регистрации программы для ЭВМ 2022613196, 01.03.2022. Заявка № 2022612313 от 18.02.2022.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3577759"/>
            <a:ext cx="12192000" cy="31585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Ермаков, А. В. </a:t>
            </a: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Возможности применения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дискретного преобразования Фурье для анализа двигательной активности на примере комплексов формальных упражнений восточных единоборств / А. В. Ермаков // Боевые искусства и спортивные единоборства: наука, практика, воспитание : Материалы IX Международной научно-практической конференции, Москва, 25 октября 2024 года. – Москва: ЗАО Фирма Лика, 2024. – С. 86-90. – EDN VWQTHK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Ермаков, А. В. Использование искусственного интеллекта для выявления характеристик взаимодействия мышц ног и туловища при выполнении броска прогибом / А. В. Ермаков, А. А. Колесов, Б. Лян // Интеграция науки и спортивной практики в единоборствах : Материалы XXIII международной научно-практической конференции молодых ученых, посвящённой памяти заслуженного мастера спорта СССР, заслуженного тренера СССР, профессора Евгения Михайловича Чумакова, Москва, 16 февраля 2024 года. – Москва: Российский университет спорта "ГЦОЛИФК", 2024. – С. 67-72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53F8-44B8-469C-BFF9-C5A1AD7CC9C0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95070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92018"/>
            <a:ext cx="11722308" cy="41502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Ермаков, А. В. Использование искусственного интеллекта для сравнительного анализа двигательной активности при выполнении формальных комплексов в восточных единоборствах / А. В. Ермаков, Ю. Б. Калашников // Экстремальная деятельность человека. – 2024. – № 4(70). – С. 55-59. – EDN MWKNJR.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Ермаков, А. В. Определение модели амплитуд движений в тазобедренном суставе при выполнения броска «подхват изнутри» с использованием комплекса цифровых технологий / А. В. Ермаков // Боевые искусства и спортивные единоборства: наука, практика, воспитание : Материалы VII Всероссийской научно-практической конференции с международным участием, Москва, 20 октября 2022 года / Под общей редакцией Ю.Л. Орлова, Л.Г. Рыжковой. – Москва: Лика, 2022. – С. 90-96. – EDN QCJRYM.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Занкина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Е.В.,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Костецкая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Е.С., Применение алгоритмов компьютерного зрения для оценки техники выполнения упражнений на академических занятиях по физической культуре в вузе // Мир педагогики и психологии: международный научно-практический журнал. 2026. № 01 (114). Режим доступа: https://scipress.ru/pedagogy/articles/primenenie-algoritmov-kompyuternogo-zreniya-dlya-otsenki-tekhniki-vypolneniya-uprazhnenij-na-akademicheskikh-zanyatiyakh-po-fizicheskoj-kulture-v-vuze.html (Дата обращения: 26.01.2026)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19920" y="4500586"/>
            <a:ext cx="11962151" cy="1277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Лапаева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А. Г. Обучение броскам с поворотом в самбо на основе учета ротационных воздействий (X-фактора) на опорно-двигательный аппарат спортсмена : автореферат диссертации на соискание ученой степени кандидата педагогических наук : специальность 5.8.5. «Теория и методика спорта» /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Лапаева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Анастасия Геннадьевна ; [Российский университет спорта «ГЦОЛИФК»]; АР-П-25‒002898. ‒ Москва, 2025. ‒ 22 с</a:t>
            </a: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53F8-44B8-469C-BFF9-C5A1AD7CC9C0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65660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1" y="295905"/>
            <a:ext cx="11782269" cy="1973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ru-RU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Лапаева Анастасия Геннадьевна, Табаков Сергей Евгеньевич, Ермаков Алексей Валерьевич ВЕРИФИКАЦИЯ МЕТОДИКИ ИЗМЕРЕНИЯ X-ФАКТОРА ПРИ ВЫПОЛНЕНИИ БРОСКОВ С ПОВОРОТОМ В САМБО // Вестник спортивной науки. 2023. №3. URL: https://cyberleninka.ru/article/n/verifikatsiya-metodiki-izmereniya-x-faktora-pri-vypolnenii-broskov-s-povorotom-v-sambo (дата обращения: 30.01.2026).</a:t>
            </a:r>
            <a:endParaRPr lang="ru-RU" sz="160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ru-RU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Шрайнер Б. А., Жомин К. М. Применение технологий компьютерного зрения в оздоровительной физической культуре // Вестник педагогических инноваций. – 2024. – № 3 (75). – С. 122–135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34911" y="2269009"/>
            <a:ext cx="11797258" cy="43668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Библиотеки и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репозитории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https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://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github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vn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322/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Netology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DS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blob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main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0%91%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BC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1%85%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1%87%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1%81%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9_%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BB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7_%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1%8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BF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BB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1%8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BF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1%80%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1%91%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BC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0_%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1%87%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8_%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0%9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1%82%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0_%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2_%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1%8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0%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ipynb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https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://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github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vn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322/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Sport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University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blob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main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ACADEM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pose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py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Pandas.DataFrame.ewm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https://pandas.pydata.org/docs/reference/api/pandas.DataFrame.ewm.html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Pose landmark detection guide https://ai.google.dev/edge/mediapipe/solutions/vision/pose_landmarker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Pose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landmarker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model https://ai.google.dev/edge/mediapipe/solutions/vision/pose_landmarker#pose_landmarker_model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scipy.stats.entropy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https://docs.scipy.org/doc/scipy/reference/generated/scipy.stats.entropy.html#scipy.stats.entropy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vg.angle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https://vgpy.readthedocs.io/en/latest/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53F8-44B8-469C-BFF9-C5A1AD7CC9C0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53852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839925" y="2524806"/>
            <a:ext cx="711342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5400" b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Спасибо за внимание!</a:t>
            </a:r>
            <a:endParaRPr lang="ru-RU" sz="540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53F8-44B8-469C-BFF9-C5A1AD7CC9C0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0955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</TotalTime>
  <Words>2458</Words>
  <Application>Microsoft Office PowerPoint</Application>
  <PresentationFormat>Широкоэкранный</PresentationFormat>
  <Paragraphs>242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9" baseType="lpstr">
      <vt:lpstr>Arial</vt:lpstr>
      <vt:lpstr>Calibri</vt:lpstr>
      <vt:lpstr>Calibri Light</vt:lpstr>
      <vt:lpstr>DengXian Light</vt:lpstr>
      <vt:lpstr>Droid Sans Fallback</vt:lpstr>
      <vt:lpstr>FreeSans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11</cp:revision>
  <dcterms:created xsi:type="dcterms:W3CDTF">2026-06-15T12:58:28Z</dcterms:created>
  <dcterms:modified xsi:type="dcterms:W3CDTF">2026-06-19T12:14:12Z</dcterms:modified>
</cp:coreProperties>
</file>